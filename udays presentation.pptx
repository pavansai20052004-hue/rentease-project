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2" r:id="rId6"/>
    <p:sldId id="260" r:id="rId7"/>
    <p:sldId id="261"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4EA6F7-9F97-496D-AE02-054F47B33965}" v="13" dt="2026-02-05T17:50:55.3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2/5/2026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2/5/2026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2/5/2026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2/5/2026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2/5/2026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438A8-BB0F-BEDA-6D1C-830DE581C47A}"/>
              </a:ext>
            </a:extLst>
          </p:cNvPr>
          <p:cNvSpPr>
            <a:spLocks noGrp="1"/>
          </p:cNvSpPr>
          <p:nvPr>
            <p:ph type="ctrTitle"/>
          </p:nvPr>
        </p:nvSpPr>
        <p:spPr>
          <a:xfrm>
            <a:off x="1915385" y="1885336"/>
            <a:ext cx="8361229" cy="2005780"/>
          </a:xfrm>
        </p:spPr>
        <p:txBody>
          <a:bodyPr/>
          <a:lstStyle/>
          <a:p>
            <a:r>
              <a:rPr lang="en-US" sz="4800" b="1" dirty="0"/>
              <a:t>Early Detection of Diabetes Onset using Clinical and Lifestyle Data with Predictive Analytics</a:t>
            </a:r>
            <a:endParaRPr lang="en-IN" sz="4800" b="1" dirty="0"/>
          </a:p>
        </p:txBody>
      </p:sp>
      <p:sp>
        <p:nvSpPr>
          <p:cNvPr id="3" name="Subtitle 2">
            <a:extLst>
              <a:ext uri="{FF2B5EF4-FFF2-40B4-BE49-F238E27FC236}">
                <a16:creationId xmlns:a16="http://schemas.microsoft.com/office/drawing/2014/main" id="{A5B5ABF2-B5E7-02E9-CD2F-163C7242B449}"/>
              </a:ext>
            </a:extLst>
          </p:cNvPr>
          <p:cNvSpPr>
            <a:spLocks noGrp="1"/>
          </p:cNvSpPr>
          <p:nvPr>
            <p:ph type="subTitle" idx="1"/>
          </p:nvPr>
        </p:nvSpPr>
        <p:spPr>
          <a:xfrm>
            <a:off x="4041058" y="3891116"/>
            <a:ext cx="6784258" cy="2094270"/>
          </a:xfrm>
        </p:spPr>
        <p:txBody>
          <a:bodyPr>
            <a:normAutofit/>
          </a:bodyPr>
          <a:lstStyle/>
          <a:p>
            <a:r>
              <a:rPr lang="en-US" sz="2000" dirty="0"/>
              <a:t>PRESENTED BY B.TECH 4</a:t>
            </a:r>
            <a:r>
              <a:rPr lang="en-US" sz="2000" baseline="30000" dirty="0"/>
              <a:t>TH</a:t>
            </a:r>
            <a:r>
              <a:rPr lang="en-US" sz="2000" dirty="0"/>
              <a:t> YEAR DATA SCIENCE – B   </a:t>
            </a:r>
          </a:p>
          <a:p>
            <a:r>
              <a:rPr lang="pt-BR" sz="2000" dirty="0"/>
              <a:t>N Ganesh 22C91A6796</a:t>
            </a:r>
          </a:p>
          <a:p>
            <a:r>
              <a:rPr lang="pt-BR" sz="2000" dirty="0"/>
              <a:t>N MANISH 22C91A6791</a:t>
            </a:r>
          </a:p>
          <a:p>
            <a:r>
              <a:rPr lang="pt-BR" sz="2000" dirty="0"/>
              <a:t>K Uday Kumar 22C91A6765</a:t>
            </a:r>
          </a:p>
          <a:p>
            <a:r>
              <a:rPr lang="pt-BR" sz="2000" dirty="0"/>
              <a:t>K ravi 22C91A6762</a:t>
            </a:r>
            <a:endParaRPr lang="en-US" sz="2000" dirty="0"/>
          </a:p>
        </p:txBody>
      </p:sp>
    </p:spTree>
    <p:extLst>
      <p:ext uri="{BB962C8B-B14F-4D97-AF65-F5344CB8AC3E}">
        <p14:creationId xmlns:p14="http://schemas.microsoft.com/office/powerpoint/2010/main" val="12506665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52B60-2B56-B18A-21F3-1AA4C63C6417}"/>
              </a:ext>
            </a:extLst>
          </p:cNvPr>
          <p:cNvSpPr>
            <a:spLocks noGrp="1"/>
          </p:cNvSpPr>
          <p:nvPr>
            <p:ph type="title"/>
          </p:nvPr>
        </p:nvSpPr>
        <p:spPr>
          <a:xfrm>
            <a:off x="3559277" y="255640"/>
            <a:ext cx="5112775" cy="734960"/>
          </a:xfrm>
        </p:spPr>
        <p:txBody>
          <a:bodyPr>
            <a:normAutofit/>
          </a:bodyPr>
          <a:lstStyle/>
          <a:p>
            <a:pPr algn="ctr"/>
            <a:r>
              <a:rPr lang="en-US" sz="3600" b="1" dirty="0"/>
              <a:t>INTRODUCTION</a:t>
            </a:r>
            <a:endParaRPr lang="en-IN" sz="3600" b="1" dirty="0"/>
          </a:p>
        </p:txBody>
      </p:sp>
      <p:sp>
        <p:nvSpPr>
          <p:cNvPr id="3" name="Content Placeholder 2">
            <a:extLst>
              <a:ext uri="{FF2B5EF4-FFF2-40B4-BE49-F238E27FC236}">
                <a16:creationId xmlns:a16="http://schemas.microsoft.com/office/drawing/2014/main" id="{0119B6DD-1D50-A170-4BE8-4D077993AB70}"/>
              </a:ext>
            </a:extLst>
          </p:cNvPr>
          <p:cNvSpPr>
            <a:spLocks noGrp="1"/>
          </p:cNvSpPr>
          <p:nvPr>
            <p:ph idx="1"/>
          </p:nvPr>
        </p:nvSpPr>
        <p:spPr>
          <a:xfrm>
            <a:off x="973394" y="1189703"/>
            <a:ext cx="9999406" cy="4677697"/>
          </a:xfrm>
        </p:spPr>
        <p:txBody>
          <a:bodyPr/>
          <a:lstStyle/>
          <a:p>
            <a:r>
              <a:rPr lang="en-US" dirty="0"/>
              <a:t>Diabetes mellitus is one of the most rapidly growing chronic diseases worldwide, posing a serious threat to public health and economic development. It is a metabolic disorder characterized by high blood glucose levels resulting from insufficient insulin production, impaired insulin action, or both. If not diagnosed and managed at an early stage, diabetes can lead to severe complications such as cardiovascular diseases, kidney failure, vision loss, and nerve damage. Therefore, early detection and timely intervention are crucial to reduce the long-term impact of this disease.</a:t>
            </a:r>
          </a:p>
          <a:p>
            <a:r>
              <a:rPr lang="en-US" dirty="0"/>
              <a:t>In recent years, the rapid growth of digital healthcare systems and electronic medical records has led to the availability of large volumes of clinical and lifestyle data. These datasets include medical history, laboratory test results, physical activity patterns, dietary habits, body mass index (BMI), age, family history, and other behavioral factors. Such diverse and comprehensive data provides valuable insights into an individual’s health status and risk profile for diabetes.</a:t>
            </a:r>
          </a:p>
          <a:p>
            <a:pPr lvl="1">
              <a:buFont typeface="Wingdings" panose="05000000000000000000" pitchFamily="2" charset="2"/>
              <a:buChar char="q"/>
            </a:pPr>
            <a:endParaRPr lang="en-IN" sz="2400" dirty="0"/>
          </a:p>
        </p:txBody>
      </p:sp>
    </p:spTree>
    <p:extLst>
      <p:ext uri="{BB962C8B-B14F-4D97-AF65-F5344CB8AC3E}">
        <p14:creationId xmlns:p14="http://schemas.microsoft.com/office/powerpoint/2010/main" val="3294590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0D092-249A-A4D4-F834-CA376ABF66D3}"/>
              </a:ext>
            </a:extLst>
          </p:cNvPr>
          <p:cNvSpPr>
            <a:spLocks noGrp="1"/>
          </p:cNvSpPr>
          <p:nvPr>
            <p:ph type="title"/>
          </p:nvPr>
        </p:nvSpPr>
        <p:spPr>
          <a:xfrm>
            <a:off x="3569109" y="599768"/>
            <a:ext cx="4630993" cy="835742"/>
          </a:xfrm>
        </p:spPr>
        <p:txBody>
          <a:bodyPr>
            <a:normAutofit/>
          </a:bodyPr>
          <a:lstStyle/>
          <a:p>
            <a:r>
              <a:rPr lang="en-IN" sz="3200" dirty="0"/>
              <a:t>Types of Diabetes</a:t>
            </a:r>
            <a:endParaRPr lang="en-IN" sz="3200" b="1" dirty="0"/>
          </a:p>
        </p:txBody>
      </p:sp>
      <p:sp>
        <p:nvSpPr>
          <p:cNvPr id="3" name="Content Placeholder 2">
            <a:extLst>
              <a:ext uri="{FF2B5EF4-FFF2-40B4-BE49-F238E27FC236}">
                <a16:creationId xmlns:a16="http://schemas.microsoft.com/office/drawing/2014/main" id="{18C58324-D61C-599E-6A17-2C417E2B3EFD}"/>
              </a:ext>
            </a:extLst>
          </p:cNvPr>
          <p:cNvSpPr>
            <a:spLocks noGrp="1"/>
          </p:cNvSpPr>
          <p:nvPr>
            <p:ph idx="1"/>
          </p:nvPr>
        </p:nvSpPr>
        <p:spPr>
          <a:xfrm>
            <a:off x="1371600" y="1238865"/>
            <a:ext cx="9601200" cy="4628535"/>
          </a:xfrm>
        </p:spPr>
        <p:txBody>
          <a:bodyPr>
            <a:normAutofit fontScale="62500" lnSpcReduction="20000"/>
          </a:bodyPr>
          <a:lstStyle/>
          <a:p>
            <a:r>
              <a:rPr lang="en-US" sz="2800" b="1" dirty="0"/>
              <a:t>1. Type 1 Diabetes</a:t>
            </a:r>
          </a:p>
          <a:p>
            <a:r>
              <a:rPr lang="en-US" sz="2800" dirty="0"/>
              <a:t>Type 1 diabetes is an autoimmune disorder in which the body’s immune system mistakenly attacks and destroys insulin-producing cells in the pancreas. As a result, the body produces little or no insulin. This type usually develops during childhood or adolescence but can also occur in adults. People with Type 1 diabetes require lifelong insulin therapy to survive.</a:t>
            </a:r>
          </a:p>
          <a:p>
            <a:r>
              <a:rPr lang="en-US" sz="2800" b="1" dirty="0"/>
              <a:t>2. Type 2 Diabetes</a:t>
            </a:r>
          </a:p>
          <a:p>
            <a:r>
              <a:rPr lang="en-US" sz="2800" dirty="0"/>
              <a:t>Type 2 diabetes is the most common form of diabetes and occurs when the body becomes resistant to insulin or does not produce enough insulin. It is strongly associated with unhealthy lifestyle habits such as poor diet, lack of physical activity, obesity, and stress. This type usually develops in adults but is increasingly seen in younger individuals due to changing lifestyles. Type 2 diabetes can often be managed through lifestyle changes, oral medications, and sometimes insulin.</a:t>
            </a:r>
          </a:p>
          <a:p>
            <a:r>
              <a:rPr lang="en-US" sz="2800" b="1" dirty="0"/>
              <a:t>3. Gestational Diabetes</a:t>
            </a:r>
          </a:p>
          <a:p>
            <a:r>
              <a:rPr lang="en-US" sz="2800" dirty="0"/>
              <a:t>Gestational diabetes occurs during pregnancy in women who have never had diabetes before. It is caused by hormonal changes that affect insulin function. Although it usually disappears after childbirth, women with gestational diabetes have a higher risk of developing Type 2 diabetes later in life. It can also affect the health of both mother and baby if not properly managed.</a:t>
            </a:r>
          </a:p>
          <a:p>
            <a:pPr>
              <a:lnSpc>
                <a:spcPct val="100000"/>
              </a:lnSpc>
              <a:buFont typeface="Wingdings" panose="05000000000000000000" pitchFamily="2" charset="2"/>
              <a:buChar char="q"/>
            </a:pPr>
            <a:endParaRPr lang="en-IN" sz="2800" dirty="0"/>
          </a:p>
        </p:txBody>
      </p:sp>
    </p:spTree>
    <p:extLst>
      <p:ext uri="{BB962C8B-B14F-4D97-AF65-F5344CB8AC3E}">
        <p14:creationId xmlns:p14="http://schemas.microsoft.com/office/powerpoint/2010/main" val="2693920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98BB7-3E8C-89D5-8622-6E89F7E1936B}"/>
              </a:ext>
            </a:extLst>
          </p:cNvPr>
          <p:cNvSpPr>
            <a:spLocks noGrp="1"/>
          </p:cNvSpPr>
          <p:nvPr>
            <p:ph type="title"/>
          </p:nvPr>
        </p:nvSpPr>
        <p:spPr>
          <a:xfrm>
            <a:off x="1371600" y="685800"/>
            <a:ext cx="9601200" cy="621890"/>
          </a:xfrm>
        </p:spPr>
        <p:txBody>
          <a:bodyPr>
            <a:normAutofit fontScale="90000"/>
          </a:bodyPr>
          <a:lstStyle/>
          <a:p>
            <a:r>
              <a:rPr lang="en-US" sz="3600" dirty="0"/>
              <a:t>    Proposed Framework for Early Detection of Diabetes</a:t>
            </a:r>
            <a:endParaRPr lang="en-IN" sz="3600" dirty="0"/>
          </a:p>
        </p:txBody>
      </p:sp>
      <p:sp>
        <p:nvSpPr>
          <p:cNvPr id="3" name="Content Placeholder 2">
            <a:extLst>
              <a:ext uri="{FF2B5EF4-FFF2-40B4-BE49-F238E27FC236}">
                <a16:creationId xmlns:a16="http://schemas.microsoft.com/office/drawing/2014/main" id="{94592B64-1DD1-C6D1-A411-70C2FB4281E8}"/>
              </a:ext>
            </a:extLst>
          </p:cNvPr>
          <p:cNvSpPr>
            <a:spLocks noGrp="1"/>
          </p:cNvSpPr>
          <p:nvPr>
            <p:ph idx="1"/>
          </p:nvPr>
        </p:nvSpPr>
        <p:spPr>
          <a:xfrm>
            <a:off x="1371599" y="1307689"/>
            <a:ext cx="11616813" cy="6037007"/>
          </a:xfrm>
        </p:spPr>
        <p:txBody>
          <a:bodyPr>
            <a:normAutofit fontScale="40000" lnSpcReduction="20000"/>
          </a:bodyPr>
          <a:lstStyle/>
          <a:p>
            <a:r>
              <a:rPr lang="en-US" sz="2800" b="1" dirty="0"/>
              <a:t>1. Data Collection</a:t>
            </a:r>
          </a:p>
          <a:p>
            <a:r>
              <a:rPr lang="en-US" sz="2800" dirty="0"/>
              <a:t>This is the first step of the framework, where relevant data is gathered from multiple sources, such as:</a:t>
            </a:r>
          </a:p>
          <a:p>
            <a:r>
              <a:rPr lang="en-US" sz="2800" dirty="0"/>
              <a:t>Electronic Health Records (EHRs)</a:t>
            </a:r>
          </a:p>
          <a:p>
            <a:r>
              <a:rPr lang="en-US" sz="2800" dirty="0"/>
              <a:t>Hospital databases</a:t>
            </a:r>
          </a:p>
          <a:p>
            <a:r>
              <a:rPr lang="en-US" sz="2800" dirty="0"/>
              <a:t>Health surveys</a:t>
            </a:r>
          </a:p>
          <a:p>
            <a:r>
              <a:rPr lang="en-US" sz="2800" dirty="0"/>
              <a:t>Wearable devices</a:t>
            </a:r>
          </a:p>
          <a:p>
            <a:r>
              <a:rPr lang="en-US" sz="2800" dirty="0"/>
              <a:t>Self-reported lifestyle information</a:t>
            </a:r>
          </a:p>
          <a:p>
            <a:r>
              <a:rPr lang="en-US" sz="2800" b="1" dirty="0"/>
              <a:t>Data includes:</a:t>
            </a:r>
            <a:endParaRPr lang="en-US" sz="2800" dirty="0"/>
          </a:p>
          <a:p>
            <a:r>
              <a:rPr lang="en-US" sz="2800" dirty="0"/>
              <a:t>Age, gender, family history</a:t>
            </a:r>
          </a:p>
          <a:p>
            <a:r>
              <a:rPr lang="en-US" sz="2800" dirty="0"/>
              <a:t>Blood glucose levels, blood pressure, cholesterol</a:t>
            </a:r>
          </a:p>
          <a:p>
            <a:r>
              <a:rPr lang="en-US" sz="2800" dirty="0"/>
              <a:t>Body Mass Index (BMI)</a:t>
            </a:r>
          </a:p>
          <a:p>
            <a:r>
              <a:rPr lang="en-US" sz="2800" dirty="0"/>
              <a:t>Physical activity, diet, smoking, alcohol habits</a:t>
            </a:r>
          </a:p>
          <a:p>
            <a:br>
              <a:rPr lang="en-US" sz="2800" dirty="0"/>
            </a:br>
            <a:endParaRPr lang="en-US" sz="2800" dirty="0"/>
          </a:p>
          <a:p>
            <a:r>
              <a:rPr lang="en-US" sz="2800" b="1" dirty="0"/>
              <a:t>2. Data Preprocessing</a:t>
            </a:r>
          </a:p>
          <a:p>
            <a:r>
              <a:rPr lang="en-US" sz="2800" dirty="0"/>
              <a:t>Raw data may contain missing values, noise, and inconsistencies. Therefore, preprocessing is necessary to improve data quality.</a:t>
            </a:r>
          </a:p>
          <a:p>
            <a:r>
              <a:rPr lang="en-US" sz="2800" dirty="0"/>
              <a:t>This stage involves:</a:t>
            </a:r>
          </a:p>
          <a:p>
            <a:r>
              <a:rPr lang="en-US" sz="2800" dirty="0"/>
              <a:t>Handling missing values</a:t>
            </a:r>
          </a:p>
          <a:p>
            <a:r>
              <a:rPr lang="en-US" sz="2800" dirty="0"/>
              <a:t>Removing duplicates</a:t>
            </a:r>
          </a:p>
          <a:p>
            <a:r>
              <a:rPr lang="en-US" sz="2800" dirty="0"/>
              <a:t>Noise filtering</a:t>
            </a:r>
          </a:p>
          <a:p>
            <a:r>
              <a:rPr lang="en-US" sz="2800" dirty="0"/>
              <a:t>Normalization and scaling</a:t>
            </a:r>
          </a:p>
          <a:p>
            <a:r>
              <a:rPr lang="en-US" sz="2800" dirty="0"/>
              <a:t>Encoding categorical variables</a:t>
            </a:r>
          </a:p>
          <a:p>
            <a:pPr>
              <a:lnSpc>
                <a:spcPct val="150000"/>
              </a:lnSpc>
              <a:buFont typeface="Wingdings" panose="05000000000000000000" pitchFamily="2" charset="2"/>
              <a:buChar char="q"/>
            </a:pPr>
            <a:endParaRPr lang="en-IN" sz="2800" dirty="0"/>
          </a:p>
        </p:txBody>
      </p:sp>
    </p:spTree>
    <p:extLst>
      <p:ext uri="{BB962C8B-B14F-4D97-AF65-F5344CB8AC3E}">
        <p14:creationId xmlns:p14="http://schemas.microsoft.com/office/powerpoint/2010/main" val="2291474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F50E5ACB-003F-9F34-7798-9F21BAB0275D}"/>
              </a:ext>
            </a:extLst>
          </p:cNvPr>
          <p:cNvSpPr>
            <a:spLocks noGrp="1"/>
          </p:cNvSpPr>
          <p:nvPr>
            <p:ph type="body" idx="1"/>
          </p:nvPr>
        </p:nvSpPr>
        <p:spPr>
          <a:xfrm>
            <a:off x="1957420" y="383459"/>
            <a:ext cx="3858164" cy="747252"/>
          </a:xfrm>
        </p:spPr>
        <p:txBody>
          <a:bodyPr/>
          <a:lstStyle/>
          <a:p>
            <a:r>
              <a:rPr lang="en-US" dirty="0"/>
              <a:t>MACHINE MODEL</a:t>
            </a:r>
            <a:endParaRPr lang="en-IN" dirty="0"/>
          </a:p>
        </p:txBody>
      </p:sp>
      <p:pic>
        <p:nvPicPr>
          <p:cNvPr id="5" name="Content Placeholder 4">
            <a:extLst>
              <a:ext uri="{FF2B5EF4-FFF2-40B4-BE49-F238E27FC236}">
                <a16:creationId xmlns:a16="http://schemas.microsoft.com/office/drawing/2014/main" id="{CBF5DE47-0485-C2C3-59C7-98A644054AB2}"/>
              </a:ext>
            </a:extLst>
          </p:cNvPr>
          <p:cNvPicPr>
            <a:picLocks noGrp="1" noChangeAspect="1"/>
          </p:cNvPicPr>
          <p:nvPr>
            <p:ph sz="half" idx="2"/>
          </p:nvPr>
        </p:nvPicPr>
        <p:blipFill>
          <a:blip r:embed="rId2"/>
          <a:stretch>
            <a:fillRect/>
          </a:stretch>
        </p:blipFill>
        <p:spPr>
          <a:xfrm>
            <a:off x="1285533" y="1465007"/>
            <a:ext cx="3858164" cy="4402393"/>
          </a:xfrm>
        </p:spPr>
      </p:pic>
      <p:sp>
        <p:nvSpPr>
          <p:cNvPr id="12" name="Text Placeholder 11">
            <a:extLst>
              <a:ext uri="{FF2B5EF4-FFF2-40B4-BE49-F238E27FC236}">
                <a16:creationId xmlns:a16="http://schemas.microsoft.com/office/drawing/2014/main" id="{471A2B03-A4EC-A53C-5159-14633E2B1AB7}"/>
              </a:ext>
            </a:extLst>
          </p:cNvPr>
          <p:cNvSpPr>
            <a:spLocks noGrp="1"/>
          </p:cNvSpPr>
          <p:nvPr>
            <p:ph type="body" sz="quarter" idx="3"/>
          </p:nvPr>
        </p:nvSpPr>
        <p:spPr>
          <a:xfrm>
            <a:off x="5506065" y="383459"/>
            <a:ext cx="6312309" cy="865238"/>
          </a:xfrm>
        </p:spPr>
        <p:txBody>
          <a:bodyPr/>
          <a:lstStyle/>
          <a:p>
            <a:r>
              <a:rPr lang="en-US" dirty="0"/>
              <a:t>                   FRAMEWORK</a:t>
            </a:r>
            <a:endParaRPr lang="en-IN" dirty="0"/>
          </a:p>
        </p:txBody>
      </p:sp>
      <p:sp>
        <p:nvSpPr>
          <p:cNvPr id="13" name="Content Placeholder 12">
            <a:extLst>
              <a:ext uri="{FF2B5EF4-FFF2-40B4-BE49-F238E27FC236}">
                <a16:creationId xmlns:a16="http://schemas.microsoft.com/office/drawing/2014/main" id="{EC1B91E3-0ED2-0A5A-445D-BAE91F5D3A01}"/>
              </a:ext>
            </a:extLst>
          </p:cNvPr>
          <p:cNvSpPr>
            <a:spLocks noGrp="1"/>
          </p:cNvSpPr>
          <p:nvPr>
            <p:ph sz="quarter" idx="4"/>
          </p:nvPr>
        </p:nvSpPr>
        <p:spPr>
          <a:xfrm>
            <a:off x="5633884" y="1465006"/>
            <a:ext cx="5335114" cy="4709651"/>
          </a:xfrm>
        </p:spPr>
        <p:txBody>
          <a:bodyPr/>
          <a:lstStyle/>
          <a:p>
            <a:endParaRPr lang="en-IN" dirty="0"/>
          </a:p>
        </p:txBody>
      </p:sp>
      <p:pic>
        <p:nvPicPr>
          <p:cNvPr id="7" name="Picture 6">
            <a:extLst>
              <a:ext uri="{FF2B5EF4-FFF2-40B4-BE49-F238E27FC236}">
                <a16:creationId xmlns:a16="http://schemas.microsoft.com/office/drawing/2014/main" id="{E71552B4-7C02-F046-B298-A315208985E4}"/>
              </a:ext>
            </a:extLst>
          </p:cNvPr>
          <p:cNvPicPr>
            <a:picLocks noChangeAspect="1"/>
          </p:cNvPicPr>
          <p:nvPr/>
        </p:nvPicPr>
        <p:blipFill>
          <a:blip r:embed="rId3"/>
          <a:stretch>
            <a:fillRect/>
          </a:stretch>
        </p:blipFill>
        <p:spPr>
          <a:xfrm>
            <a:off x="5901651" y="1423220"/>
            <a:ext cx="5153413" cy="4247674"/>
          </a:xfrm>
          <a:prstGeom prst="rect">
            <a:avLst/>
          </a:prstGeom>
        </p:spPr>
      </p:pic>
    </p:spTree>
    <p:extLst>
      <p:ext uri="{BB962C8B-B14F-4D97-AF65-F5344CB8AC3E}">
        <p14:creationId xmlns:p14="http://schemas.microsoft.com/office/powerpoint/2010/main" val="3806654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DB42F-A429-5C67-B889-088617066559}"/>
              </a:ext>
            </a:extLst>
          </p:cNvPr>
          <p:cNvSpPr>
            <a:spLocks noGrp="1"/>
          </p:cNvSpPr>
          <p:nvPr>
            <p:ph type="title"/>
          </p:nvPr>
        </p:nvSpPr>
        <p:spPr>
          <a:xfrm>
            <a:off x="1295400" y="322005"/>
            <a:ext cx="9601200" cy="946355"/>
          </a:xfrm>
        </p:spPr>
        <p:txBody>
          <a:bodyPr>
            <a:normAutofit/>
          </a:bodyPr>
          <a:lstStyle/>
          <a:p>
            <a:r>
              <a:rPr lang="en-US" sz="3200" b="1" dirty="0"/>
              <a:t>        KEY COMPONENTS OF </a:t>
            </a:r>
            <a:r>
              <a:rPr lang="en-IN" sz="3200" dirty="0"/>
              <a:t>Proposed System</a:t>
            </a:r>
            <a:endParaRPr lang="en-IN" sz="3200" b="1" dirty="0"/>
          </a:p>
        </p:txBody>
      </p:sp>
      <p:sp>
        <p:nvSpPr>
          <p:cNvPr id="3" name="Content Placeholder 2">
            <a:extLst>
              <a:ext uri="{FF2B5EF4-FFF2-40B4-BE49-F238E27FC236}">
                <a16:creationId xmlns:a16="http://schemas.microsoft.com/office/drawing/2014/main" id="{C1F4B7C7-1466-C164-FE7E-C98C36DBF26F}"/>
              </a:ext>
            </a:extLst>
          </p:cNvPr>
          <p:cNvSpPr>
            <a:spLocks noGrp="1"/>
          </p:cNvSpPr>
          <p:nvPr>
            <p:ph idx="1"/>
          </p:nvPr>
        </p:nvSpPr>
        <p:spPr>
          <a:xfrm>
            <a:off x="1187245" y="865237"/>
            <a:ext cx="9601200" cy="6096001"/>
          </a:xfrm>
        </p:spPr>
        <p:txBody>
          <a:bodyPr>
            <a:normAutofit fontScale="55000" lnSpcReduction="20000"/>
          </a:bodyPr>
          <a:lstStyle/>
          <a:p>
            <a:r>
              <a:rPr lang="en-US" sz="2800" b="1" dirty="0"/>
              <a:t>1. Data Source Component</a:t>
            </a:r>
          </a:p>
          <a:p>
            <a:r>
              <a:rPr lang="en-US" sz="2800" dirty="0"/>
              <a:t>This component is responsible for collecting data from different sources.</a:t>
            </a:r>
          </a:p>
          <a:p>
            <a:r>
              <a:rPr lang="en-US" sz="2800" dirty="0"/>
              <a:t>It includes:</a:t>
            </a:r>
          </a:p>
          <a:p>
            <a:r>
              <a:rPr lang="en-US" sz="2800" dirty="0"/>
              <a:t>Hospital and clinic records</a:t>
            </a:r>
          </a:p>
          <a:p>
            <a:r>
              <a:rPr lang="en-US" sz="2800" dirty="0"/>
              <a:t>Laboratory reports</a:t>
            </a:r>
          </a:p>
          <a:p>
            <a:r>
              <a:rPr lang="en-US" sz="2800" dirty="0"/>
              <a:t>Health surveys</a:t>
            </a:r>
          </a:p>
          <a:p>
            <a:r>
              <a:rPr lang="en-US" sz="2800" dirty="0"/>
              <a:t>Wearable devices</a:t>
            </a:r>
          </a:p>
          <a:p>
            <a:r>
              <a:rPr lang="en-US" sz="2800" dirty="0"/>
              <a:t>Personal health records</a:t>
            </a:r>
          </a:p>
          <a:p>
            <a:r>
              <a:rPr lang="en-US" sz="2800" dirty="0"/>
              <a:t>It provides both </a:t>
            </a:r>
            <a:r>
              <a:rPr lang="en-US" sz="2800" b="1" dirty="0"/>
              <a:t>clinical data</a:t>
            </a:r>
            <a:r>
              <a:rPr lang="en-US" sz="2800" dirty="0"/>
              <a:t> and </a:t>
            </a:r>
            <a:r>
              <a:rPr lang="en-US" sz="2800" b="1" dirty="0"/>
              <a:t>lifestyle data</a:t>
            </a:r>
            <a:r>
              <a:rPr lang="en-US" sz="2800" dirty="0"/>
              <a:t> required for analysis.</a:t>
            </a:r>
          </a:p>
          <a:p>
            <a:br>
              <a:rPr lang="en-US" sz="2800" dirty="0"/>
            </a:br>
            <a:endParaRPr lang="en-US" sz="2800" dirty="0"/>
          </a:p>
          <a:p>
            <a:r>
              <a:rPr lang="en-US" sz="2800" b="1" dirty="0"/>
              <a:t>2. Data Management Component</a:t>
            </a:r>
          </a:p>
          <a:p>
            <a:r>
              <a:rPr lang="en-US" sz="2800" dirty="0"/>
              <a:t>This component stores and organizes the collected data securely.</a:t>
            </a:r>
          </a:p>
          <a:p>
            <a:r>
              <a:rPr lang="en-US" sz="2800" dirty="0"/>
              <a:t>Functions include:</a:t>
            </a:r>
          </a:p>
          <a:p>
            <a:r>
              <a:rPr lang="en-US" sz="2800" dirty="0"/>
              <a:t>Database management</a:t>
            </a:r>
          </a:p>
          <a:p>
            <a:r>
              <a:rPr lang="en-US" sz="2800" dirty="0"/>
              <a:t>Data storage</a:t>
            </a:r>
          </a:p>
          <a:p>
            <a:r>
              <a:rPr lang="en-US" sz="2800" dirty="0"/>
              <a:t>Data retrieval</a:t>
            </a:r>
          </a:p>
          <a:p>
            <a:r>
              <a:rPr lang="en-US" sz="2800" dirty="0"/>
              <a:t>Data security and privacy</a:t>
            </a:r>
          </a:p>
          <a:p>
            <a:r>
              <a:rPr lang="en-US" sz="2800" dirty="0"/>
              <a:t>It ensures data is safe and easily accessible.</a:t>
            </a:r>
          </a:p>
          <a:p>
            <a:pPr>
              <a:buFont typeface="Wingdings" panose="05000000000000000000" pitchFamily="2" charset="2"/>
              <a:buChar char="q"/>
            </a:pPr>
            <a:endParaRPr lang="en-IN" sz="2800" dirty="0"/>
          </a:p>
        </p:txBody>
      </p:sp>
    </p:spTree>
    <p:extLst>
      <p:ext uri="{BB962C8B-B14F-4D97-AF65-F5344CB8AC3E}">
        <p14:creationId xmlns:p14="http://schemas.microsoft.com/office/powerpoint/2010/main" val="2647542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7D1B8-11C8-41A8-51DE-B396183B0FF8}"/>
              </a:ext>
            </a:extLst>
          </p:cNvPr>
          <p:cNvSpPr>
            <a:spLocks noGrp="1"/>
          </p:cNvSpPr>
          <p:nvPr>
            <p:ph type="title"/>
          </p:nvPr>
        </p:nvSpPr>
        <p:spPr>
          <a:xfrm>
            <a:off x="2320412" y="508819"/>
            <a:ext cx="8721213" cy="720213"/>
          </a:xfrm>
        </p:spPr>
        <p:txBody>
          <a:bodyPr>
            <a:normAutofit/>
          </a:bodyPr>
          <a:lstStyle/>
          <a:p>
            <a:r>
              <a:rPr lang="en-US" sz="3600" dirty="0"/>
              <a:t>COMMON  MODELS</a:t>
            </a:r>
            <a:endParaRPr lang="en-IN" sz="3600" dirty="0"/>
          </a:p>
        </p:txBody>
      </p:sp>
      <p:sp>
        <p:nvSpPr>
          <p:cNvPr id="3" name="Content Placeholder 2">
            <a:extLst>
              <a:ext uri="{FF2B5EF4-FFF2-40B4-BE49-F238E27FC236}">
                <a16:creationId xmlns:a16="http://schemas.microsoft.com/office/drawing/2014/main" id="{A01BDBF0-37F6-02ED-AEE7-5A60FB0AE3B4}"/>
              </a:ext>
            </a:extLst>
          </p:cNvPr>
          <p:cNvSpPr>
            <a:spLocks noGrp="1"/>
          </p:cNvSpPr>
          <p:nvPr>
            <p:ph idx="1"/>
          </p:nvPr>
        </p:nvSpPr>
        <p:spPr>
          <a:xfrm>
            <a:off x="1219201" y="1229032"/>
            <a:ext cx="9753599" cy="5840362"/>
          </a:xfrm>
        </p:spPr>
        <p:txBody>
          <a:bodyPr>
            <a:normAutofit fontScale="47500" lnSpcReduction="20000"/>
          </a:bodyPr>
          <a:lstStyle/>
          <a:p>
            <a:r>
              <a:rPr lang="en-US" sz="2800" b="1" dirty="0"/>
              <a:t>1. Logistic Regression</a:t>
            </a:r>
          </a:p>
          <a:p>
            <a:r>
              <a:rPr lang="en-US" sz="2800" dirty="0"/>
              <a:t>A widely used statistical model for binary classification.</a:t>
            </a:r>
          </a:p>
          <a:p>
            <a:r>
              <a:rPr lang="en-US" sz="2800" dirty="0"/>
              <a:t>Predicts whether a person is diabetic or non-diabetic.</a:t>
            </a:r>
          </a:p>
          <a:p>
            <a:r>
              <a:rPr lang="en-US" sz="2800" dirty="0"/>
              <a:t>Simple, fast, and easy to interpret.</a:t>
            </a:r>
          </a:p>
          <a:p>
            <a:r>
              <a:rPr lang="en-US" sz="2800" dirty="0"/>
              <a:t>Works well with structured medical data.</a:t>
            </a:r>
          </a:p>
          <a:p>
            <a:r>
              <a:rPr lang="en-US" sz="2800" b="1" dirty="0"/>
              <a:t>Use:</a:t>
            </a:r>
            <a:r>
              <a:rPr lang="en-US" sz="2800" dirty="0"/>
              <a:t> Baseline model for comparison.</a:t>
            </a:r>
          </a:p>
          <a:p>
            <a:br>
              <a:rPr lang="en-US" sz="2800" dirty="0"/>
            </a:br>
            <a:endParaRPr lang="en-US" sz="2800" dirty="0"/>
          </a:p>
          <a:p>
            <a:r>
              <a:rPr lang="en-US" sz="2800" b="1" dirty="0"/>
              <a:t>2. Decision Tree</a:t>
            </a:r>
          </a:p>
          <a:p>
            <a:r>
              <a:rPr lang="en-US" sz="2800" dirty="0"/>
              <a:t>A tree-like structure that makes decisions based on rules.</a:t>
            </a:r>
          </a:p>
          <a:p>
            <a:r>
              <a:rPr lang="en-US" sz="2800" dirty="0"/>
              <a:t>Easy to understand and visualize.</a:t>
            </a:r>
          </a:p>
          <a:p>
            <a:r>
              <a:rPr lang="en-US" sz="2800" dirty="0"/>
              <a:t>Handles both numerical and categorical data.</a:t>
            </a:r>
          </a:p>
          <a:p>
            <a:r>
              <a:rPr lang="en-US" sz="2800" dirty="0"/>
              <a:t>Can overfit if not properly tuned.</a:t>
            </a:r>
          </a:p>
          <a:p>
            <a:r>
              <a:rPr lang="en-US" sz="2800" b="1" dirty="0"/>
              <a:t>Use:</a:t>
            </a:r>
            <a:r>
              <a:rPr lang="en-US" sz="2800" dirty="0"/>
              <a:t> Rule-based medical decision support.</a:t>
            </a:r>
          </a:p>
          <a:p>
            <a:br>
              <a:rPr lang="en-US" sz="2800" dirty="0"/>
            </a:br>
            <a:endParaRPr lang="en-US" sz="2800" dirty="0"/>
          </a:p>
          <a:p>
            <a:r>
              <a:rPr lang="en-US" sz="2800" b="1" dirty="0"/>
              <a:t>3. Random Forest</a:t>
            </a:r>
          </a:p>
          <a:p>
            <a:r>
              <a:rPr lang="en-US" sz="2800" dirty="0"/>
              <a:t>An ensemble model made of multiple decision trees.</a:t>
            </a:r>
          </a:p>
          <a:p>
            <a:r>
              <a:rPr lang="en-US" sz="2800" dirty="0"/>
              <a:t>Improves accuracy and reduces overfitting.</a:t>
            </a:r>
          </a:p>
          <a:p>
            <a:r>
              <a:rPr lang="en-US" sz="2800" dirty="0"/>
              <a:t>Handles missing values and noisy data well.</a:t>
            </a:r>
          </a:p>
          <a:p>
            <a:pPr>
              <a:buFont typeface="Wingdings" panose="05000000000000000000" pitchFamily="2" charset="2"/>
              <a:buChar char="q"/>
            </a:pPr>
            <a:endParaRPr lang="en-IN" sz="2800" dirty="0"/>
          </a:p>
        </p:txBody>
      </p:sp>
    </p:spTree>
    <p:extLst>
      <p:ext uri="{BB962C8B-B14F-4D97-AF65-F5344CB8AC3E}">
        <p14:creationId xmlns:p14="http://schemas.microsoft.com/office/powerpoint/2010/main" val="1879140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D8ED8-A624-DDA7-F2CE-66B5DBB9D9AD}"/>
              </a:ext>
            </a:extLst>
          </p:cNvPr>
          <p:cNvSpPr>
            <a:spLocks noGrp="1"/>
          </p:cNvSpPr>
          <p:nvPr>
            <p:ph type="title"/>
          </p:nvPr>
        </p:nvSpPr>
        <p:spPr>
          <a:xfrm>
            <a:off x="1371600" y="685800"/>
            <a:ext cx="9601200" cy="631723"/>
          </a:xfrm>
        </p:spPr>
        <p:txBody>
          <a:bodyPr>
            <a:normAutofit/>
          </a:bodyPr>
          <a:lstStyle/>
          <a:p>
            <a:r>
              <a:rPr lang="en-US" sz="3600" b="1" dirty="0"/>
              <a:t>IMPLEMENTATION CHALLENGES</a:t>
            </a:r>
            <a:endParaRPr lang="en-IN" sz="3600" b="1" dirty="0"/>
          </a:p>
        </p:txBody>
      </p:sp>
      <p:sp>
        <p:nvSpPr>
          <p:cNvPr id="3" name="Content Placeholder 2">
            <a:extLst>
              <a:ext uri="{FF2B5EF4-FFF2-40B4-BE49-F238E27FC236}">
                <a16:creationId xmlns:a16="http://schemas.microsoft.com/office/drawing/2014/main" id="{ECDC4D26-5984-46E1-F3B1-0A061C0BB54F}"/>
              </a:ext>
            </a:extLst>
          </p:cNvPr>
          <p:cNvSpPr>
            <a:spLocks noGrp="1"/>
          </p:cNvSpPr>
          <p:nvPr>
            <p:ph idx="1"/>
          </p:nvPr>
        </p:nvSpPr>
        <p:spPr>
          <a:xfrm>
            <a:off x="1371600" y="1219199"/>
            <a:ext cx="9601200" cy="5201265"/>
          </a:xfrm>
        </p:spPr>
        <p:txBody>
          <a:bodyPr>
            <a:noAutofit/>
          </a:bodyPr>
          <a:lstStyle/>
          <a:p>
            <a:pPr>
              <a:buFont typeface="Wingdings" panose="05000000000000000000" pitchFamily="2" charset="2"/>
              <a:buChar char="q"/>
            </a:pPr>
            <a:r>
              <a:rPr lang="en-US" sz="2800" dirty="0"/>
              <a:t>Data Quality: Incomplete or biased historical data for modeling.</a:t>
            </a:r>
          </a:p>
          <a:p>
            <a:pPr>
              <a:buFont typeface="Wingdings" panose="05000000000000000000" pitchFamily="2" charset="2"/>
              <a:buChar char="q"/>
            </a:pPr>
            <a:r>
              <a:rPr lang="en-US" sz="2800" dirty="0"/>
              <a:t>Integration: Aligning models with IT systems and business processes.</a:t>
            </a:r>
          </a:p>
          <a:p>
            <a:pPr>
              <a:buFont typeface="Wingdings" panose="05000000000000000000" pitchFamily="2" charset="2"/>
              <a:buChar char="q"/>
            </a:pPr>
            <a:r>
              <a:rPr lang="en-US" sz="2800" dirty="0"/>
              <a:t>Regulatory Compliance: Frequent updates and audits.</a:t>
            </a:r>
          </a:p>
          <a:p>
            <a:pPr>
              <a:buFont typeface="Wingdings" panose="05000000000000000000" pitchFamily="2" charset="2"/>
              <a:buChar char="q"/>
            </a:pPr>
            <a:r>
              <a:rPr lang="en-US" sz="2800" dirty="0"/>
              <a:t>Model Risk: Overfitting, validation issues, or black-box ML models.</a:t>
            </a:r>
          </a:p>
          <a:p>
            <a:pPr>
              <a:buFont typeface="Wingdings" panose="05000000000000000000" pitchFamily="2" charset="2"/>
              <a:buChar char="q"/>
            </a:pPr>
            <a:r>
              <a:rPr lang="en-US" sz="2800" dirty="0"/>
              <a:t>Economic Factors: Handling cycles, pandemics (e.g., COVID-19 spikes in defaults).</a:t>
            </a:r>
          </a:p>
          <a:p>
            <a:pPr>
              <a:buFont typeface="Wingdings" panose="05000000000000000000" pitchFamily="2" charset="2"/>
              <a:buChar char="q"/>
            </a:pPr>
            <a:r>
              <a:rPr lang="en-US" sz="2800" dirty="0"/>
              <a:t>Solutions: Use AI for better predictions, regular back-testing.</a:t>
            </a:r>
            <a:endParaRPr lang="en-IN" sz="2800" dirty="0"/>
          </a:p>
        </p:txBody>
      </p:sp>
    </p:spTree>
    <p:extLst>
      <p:ext uri="{BB962C8B-B14F-4D97-AF65-F5344CB8AC3E}">
        <p14:creationId xmlns:p14="http://schemas.microsoft.com/office/powerpoint/2010/main" val="3554250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183F1-924F-B489-E675-CF7B7F3FBCA5}"/>
              </a:ext>
            </a:extLst>
          </p:cNvPr>
          <p:cNvSpPr>
            <a:spLocks noGrp="1"/>
          </p:cNvSpPr>
          <p:nvPr>
            <p:ph type="title"/>
          </p:nvPr>
        </p:nvSpPr>
        <p:spPr>
          <a:xfrm>
            <a:off x="3569110" y="685800"/>
            <a:ext cx="7403690" cy="818535"/>
          </a:xfrm>
        </p:spPr>
        <p:txBody>
          <a:bodyPr>
            <a:normAutofit/>
          </a:bodyPr>
          <a:lstStyle/>
          <a:p>
            <a:r>
              <a:rPr lang="en-US" sz="3600" b="1" dirty="0"/>
              <a:t>         CONCLUSION</a:t>
            </a:r>
            <a:endParaRPr lang="en-IN" sz="3600" b="1" dirty="0"/>
          </a:p>
        </p:txBody>
      </p:sp>
      <p:sp>
        <p:nvSpPr>
          <p:cNvPr id="3" name="Content Placeholder 2">
            <a:extLst>
              <a:ext uri="{FF2B5EF4-FFF2-40B4-BE49-F238E27FC236}">
                <a16:creationId xmlns:a16="http://schemas.microsoft.com/office/drawing/2014/main" id="{F5FAB34D-216A-55E9-5B01-CF7E061EC410}"/>
              </a:ext>
            </a:extLst>
          </p:cNvPr>
          <p:cNvSpPr>
            <a:spLocks noGrp="1"/>
          </p:cNvSpPr>
          <p:nvPr>
            <p:ph idx="1"/>
          </p:nvPr>
        </p:nvSpPr>
        <p:spPr>
          <a:xfrm>
            <a:off x="1295400" y="1347019"/>
            <a:ext cx="9601200" cy="5270091"/>
          </a:xfrm>
        </p:spPr>
        <p:txBody>
          <a:bodyPr>
            <a:normAutofit fontScale="62500" lnSpcReduction="20000"/>
          </a:bodyPr>
          <a:lstStyle/>
          <a:p>
            <a:r>
              <a:rPr lang="en-US" sz="2800" dirty="0"/>
              <a:t>Early detection of diabetes plays a vital role in reducing the long-term health complications associated with the disease. This study focused on predicting the onset of diabetes by analyzing clinical and lifestyle data using predictive analytics and machine learning techniques. By integrating medical indicators such as blood glucose levels, BMI, blood pressure, and family history with lifestyle factors like physical activity, diet, and smoking habits, the proposed system provides a comprehensive approach to risk assessment.</a:t>
            </a:r>
          </a:p>
          <a:p>
            <a:r>
              <a:rPr lang="en-US" sz="2800" dirty="0"/>
              <a:t>The developed predictive models demonstrated that data-driven techniques can effectively identify individuals at high risk of developing diabetes at an early stage. Machine learning algorithms such as Logistic Regression, Random Forest, Support Vector Machine, and Neural Networks showed promising performance in classifying individuals based on their risk levels. Among these, ensemble and boosting methods achieved higher accuracy, highlighting their suitability for healthcare prediction systems.</a:t>
            </a:r>
          </a:p>
          <a:p>
            <a:r>
              <a:rPr lang="en-US" sz="2800" dirty="0"/>
              <a:t>The results indicate that the proposed framework can serve as a reliable decision-support tool for healthcare professionals and individuals. Early risk identification enables timely medical intervention, personalized lifestyle recommendations, and continuous health monitoring. This proactive approach not only improves patient outcomes but also helps in reducing healthcare costs and the burden on medical systems.</a:t>
            </a:r>
          </a:p>
          <a:p>
            <a:r>
              <a:rPr lang="en-US" sz="2800" dirty="0"/>
              <a:t>In the future, the system can be enhanced by incorporating real-time data from wearable devices, genetic information, and advanced deep learning techniques. Additionally, integrating the model with mobile health applications and hospital information systems can improve accessibility and scalability. Overall, predictive analytics offers a powerful and efficient solution for the early detection and prevention of diabetes, contributing to better public health management and improved quality of life.</a:t>
            </a:r>
          </a:p>
          <a:p>
            <a:pPr>
              <a:buFont typeface="Wingdings" panose="05000000000000000000" pitchFamily="2" charset="2"/>
              <a:buChar char="q"/>
            </a:pPr>
            <a:endParaRPr lang="en-IN" sz="2800" dirty="0"/>
          </a:p>
        </p:txBody>
      </p:sp>
    </p:spTree>
    <p:extLst>
      <p:ext uri="{BB962C8B-B14F-4D97-AF65-F5344CB8AC3E}">
        <p14:creationId xmlns:p14="http://schemas.microsoft.com/office/powerpoint/2010/main" val="3177654147"/>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{8C56D762-3F0F-4B81-B5F5-CD3E3078E8C1}tf10001105</Template>
  <TotalTime>97</TotalTime>
  <Words>1144</Words>
  <Application>Microsoft Office PowerPoint</Application>
  <PresentationFormat>Widescreen</PresentationFormat>
  <Paragraphs>90</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Franklin Gothic Book</vt:lpstr>
      <vt:lpstr>Wingdings</vt:lpstr>
      <vt:lpstr>Crop</vt:lpstr>
      <vt:lpstr>Early Detection of Diabetes Onset using Clinical and Lifestyle Data with Predictive Analytics</vt:lpstr>
      <vt:lpstr>INTRODUCTION</vt:lpstr>
      <vt:lpstr>Types of Diabetes</vt:lpstr>
      <vt:lpstr>    Proposed Framework for Early Detection of Diabetes</vt:lpstr>
      <vt:lpstr>PowerPoint Presentation</vt:lpstr>
      <vt:lpstr>        KEY COMPONENTS OF Proposed System</vt:lpstr>
      <vt:lpstr>COMMON  MODELS</vt:lpstr>
      <vt:lpstr>IMPLEMENTATION CHALLENGES</vt:lpstr>
      <vt:lpstr>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Harun Yeager</dc:creator>
  <cp:lastModifiedBy>pavan sai</cp:lastModifiedBy>
  <cp:revision>6</cp:revision>
  <dcterms:created xsi:type="dcterms:W3CDTF">2026-02-05T13:42:59Z</dcterms:created>
  <dcterms:modified xsi:type="dcterms:W3CDTF">2026-02-05T17:55:41Z</dcterms:modified>
</cp:coreProperties>
</file>